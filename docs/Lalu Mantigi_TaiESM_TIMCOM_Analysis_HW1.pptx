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8"/>
    <p:restoredTop sz="94610"/>
  </p:normalViewPr>
  <p:slideViewPr>
    <p:cSldViewPr snapToGrid="0" snapToObjects="1">
      <p:cViewPr>
        <p:scale>
          <a:sx n="145" d="100"/>
          <a:sy n="145" d="100"/>
        </p:scale>
        <p:origin x="1296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6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6716" y="987306"/>
            <a:ext cx="681056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  <a:spcAft>
                <a:spcPts val="1650"/>
              </a:spcAft>
            </a:pPr>
            <a:r>
              <a:rPr lang="en-US" sz="5400" dirty="0" err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TaiESM</a:t>
            </a:r>
            <a:r>
              <a:rPr lang="en-US" sz="5400" dirty="0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 and </a:t>
            </a:r>
          </a:p>
          <a:p>
            <a:pPr algn="ctr">
              <a:lnSpc>
                <a:spcPts val="5400"/>
              </a:lnSpc>
              <a:spcAft>
                <a:spcPts val="1650"/>
              </a:spcAft>
            </a:pPr>
            <a:r>
              <a:rPr lang="en-US" sz="5400" dirty="0" err="1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TaiESM</a:t>
            </a:r>
            <a:r>
              <a:rPr lang="en-US" sz="5400" dirty="0">
                <a:solidFill>
                  <a:srgbClr val="FFFFFF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-TIMCOM Performance</a:t>
            </a:r>
            <a:endParaRPr lang="en-US" sz="5400" dirty="0">
              <a:latin typeface="Georgia" panose="02040502050405020303" pitchFamily="18" charset="0"/>
            </a:endParaRPr>
          </a:p>
          <a:p>
            <a:pPr marL="0" indent="0" algn="ctr">
              <a:lnSpc>
                <a:spcPts val="5400"/>
              </a:lnSpc>
              <a:spcAft>
                <a:spcPts val="1650"/>
              </a:spcAft>
              <a:buNone/>
            </a:pP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483167" y="3681569"/>
            <a:ext cx="41776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and Diagnostic Analysis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619500" y="3214844"/>
            <a:ext cx="1905000" cy="28575"/>
          </a:xfrm>
          <a:prstGeom prst="rect">
            <a:avLst/>
          </a:prstGeom>
          <a:solidFill>
            <a:srgbClr val="C850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3548219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47009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System Modelling Homework I • Lalu Mantigi Wana Paksi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810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9100" y="266700"/>
            <a:ext cx="58973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Introduction: TaiESM Model Overview</a:t>
            </a:r>
            <a:endParaRPr lang="en-US" sz="2700" dirty="0"/>
          </a:p>
        </p:txBody>
      </p:sp>
      <p:pic>
        <p:nvPicPr>
          <p:cNvPr id="4" name="Image 0" descr="/tmp/rasterized-gradient-4d95d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1100"/>
            <a:ext cx="3848100" cy="20267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7725" y="1409700"/>
            <a:ext cx="3410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TaiESM Standalone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7725" y="1943100"/>
            <a:ext cx="341014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TIMCOM ocean data for model initialization and stability testing without observational validation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7725" y="2674441"/>
            <a:ext cx="3343275" cy="304800"/>
          </a:xfrm>
          <a:prstGeom prst="roundRect">
            <a:avLst>
              <a:gd name="adj" fmla="val 12500"/>
            </a:avLst>
          </a:prstGeom>
          <a:solidFill>
            <a:srgbClr val="0A5F8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62025" y="2750641"/>
            <a:ext cx="3176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Focus</a:t>
            </a:r>
            <a:endParaRPr lang="en-US" sz="900" dirty="0"/>
          </a:p>
        </p:txBody>
      </p:sp>
      <p:pic>
        <p:nvPicPr>
          <p:cNvPr id="9" name="Image 1" descr="/tmp/rasterized-gradient-d0323a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181100"/>
            <a:ext cx="3848100" cy="20267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00625" y="1409700"/>
            <a:ext cx="3410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TaiESM-TIMCOM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00625" y="1943100"/>
            <a:ext cx="341014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forcing data with full observational validation capability for realistic climate simulation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000625" y="2674441"/>
            <a:ext cx="3343275" cy="304800"/>
          </a:xfrm>
          <a:prstGeom prst="roundRect">
            <a:avLst>
              <a:gd name="adj" fmla="val 12500"/>
            </a:avLst>
          </a:prstGeom>
          <a:solidFill>
            <a:srgbClr val="C850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114925" y="2750641"/>
            <a:ext cx="3176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Focus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71500" y="3512641"/>
            <a:ext cx="8001000" cy="982861"/>
          </a:xfrm>
          <a:prstGeom prst="roundRect">
            <a:avLst>
              <a:gd name="adj" fmla="val 7753"/>
            </a:avLst>
          </a:prstGeom>
          <a:solidFill>
            <a:srgbClr val="FFFFFF"/>
          </a:solidFill>
          <a:ln w="19050">
            <a:solidFill>
              <a:srgbClr val="B8C9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81050" y="3760291"/>
            <a:ext cx="773353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Distinction:</a:t>
            </a:r>
            <a:r>
              <a:rPr lang="en-US" sz="12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TaiESM-TIMCOM represents a fully coupled ocean-atmosphere model that can be rigorously compared against observational datasets to evaluate simulation realism.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28600" y="4762500"/>
            <a:ext cx="1827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TaiESM Model Framework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810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9100" y="266700"/>
            <a:ext cx="57418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Background: Climate Model Coupling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1028700"/>
            <a:ext cx="3359795" cy="10858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028700"/>
            <a:ext cx="0" cy="1085850"/>
          </a:xfrm>
          <a:prstGeom prst="line">
            <a:avLst/>
          </a:prstGeom>
          <a:noFill/>
          <a:ln w="38100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00150"/>
            <a:ext cx="3038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Ocean Component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524000"/>
            <a:ext cx="30383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TIMCOM provides ocean circulation, heat transport, and sea ice dynamics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6250" y="2228850"/>
            <a:ext cx="3359795" cy="10858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2228850"/>
            <a:ext cx="0" cy="1085850"/>
          </a:xfrm>
          <a:prstGeom prst="line">
            <a:avLst/>
          </a:prstGeom>
          <a:noFill/>
          <a:ln w="38100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400300"/>
            <a:ext cx="3038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Atmosphere Component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2724150"/>
            <a:ext cx="30383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dynamics, radiation, and precipitation processes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6250" y="3429000"/>
            <a:ext cx="3359795" cy="10858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95300" y="3429000"/>
            <a:ext cx="0" cy="1085850"/>
          </a:xfrm>
          <a:prstGeom prst="line">
            <a:avLst/>
          </a:prstGeom>
          <a:noFill/>
          <a:ln w="38100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600450"/>
            <a:ext cx="3038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Coupling Interface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3924300"/>
            <a:ext cx="30383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of momentum, heat, and freshwater fluxes between components</a:t>
            </a:r>
            <a:endParaRPr lang="en-US" sz="1050" dirty="0"/>
          </a:p>
        </p:txBody>
      </p:sp>
      <p:pic>
        <p:nvPicPr>
          <p:cNvPr id="16" name="Image 0" descr="/tmp/rasterized-gradient-9ed8c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845" y="1028700"/>
            <a:ext cx="4526905" cy="34861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388495" y="1276350"/>
            <a:ext cx="41122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650"/>
              </a:spcAft>
              <a:buNone/>
            </a:pPr>
            <a:r>
              <a:rPr lang="en-US" sz="15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Coupled Models Matter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88495" y="1752600"/>
            <a:ext cx="403160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78995" y="1752600"/>
            <a:ext cx="39179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05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feedbacks between ocean and atmosphere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8995" y="2095500"/>
            <a:ext cx="39179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05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realistic climate variability (ENSO, PDO)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8995" y="2438400"/>
            <a:ext cx="39179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05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long-term climate projections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8995" y="2781300"/>
            <a:ext cx="39179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05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impacts of greenhouse gas forcing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28600" y="4743450"/>
            <a:ext cx="2118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Ocean-Atmosphere Coupling Framework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810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9100" y="2667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Motivation</a:t>
            </a:r>
            <a:endParaRPr lang="en-US" sz="2700" dirty="0"/>
          </a:p>
        </p:txBody>
      </p:sp>
      <p:pic>
        <p:nvPicPr>
          <p:cNvPr id="4" name="Image 0" descr="/tmp/rasterized-gradient-1c4cbd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09650"/>
            <a:ext cx="8191500" cy="1352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219200"/>
            <a:ext cx="3973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Questions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657350"/>
            <a:ext cx="7927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TaiESM-TIMCOM reproduce observed climate patterns, and what systematic biases limit its predictive capability?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6250" y="2514600"/>
            <a:ext cx="2628900" cy="1283791"/>
          </a:xfrm>
          <a:prstGeom prst="roundRect">
            <a:avLst>
              <a:gd name="adj" fmla="val 59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76250" y="2533650"/>
            <a:ext cx="2628900" cy="0"/>
          </a:xfrm>
          <a:prstGeom prst="line">
            <a:avLst/>
          </a:prstGeom>
          <a:noFill/>
          <a:ln w="38100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8650" y="2705100"/>
            <a:ext cx="23705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Validation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8650" y="3048000"/>
            <a:ext cx="23705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simulated variables against observations to quantify model skill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57550" y="2514600"/>
            <a:ext cx="2628900" cy="1283791"/>
          </a:xfrm>
          <a:prstGeom prst="roundRect">
            <a:avLst>
              <a:gd name="adj" fmla="val 59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57550" y="2533650"/>
            <a:ext cx="2628900" cy="0"/>
          </a:xfrm>
          <a:prstGeom prst="line">
            <a:avLst/>
          </a:prstGeom>
          <a:noFill/>
          <a:ln w="38100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09950" y="2705100"/>
            <a:ext cx="23705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Identification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09950" y="3048000"/>
            <a:ext cx="2370582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systematic errors in circulation, temperature, and precipitation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38850" y="2514600"/>
            <a:ext cx="2628900" cy="1283791"/>
          </a:xfrm>
          <a:prstGeom prst="roundRect">
            <a:avLst>
              <a:gd name="adj" fmla="val 59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038850" y="2533650"/>
            <a:ext cx="2628900" cy="0"/>
          </a:xfrm>
          <a:prstGeom prst="line">
            <a:avLst/>
          </a:prstGeom>
          <a:noFill/>
          <a:ln w="38100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91250" y="2705100"/>
            <a:ext cx="23705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Understanding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191250" y="3048000"/>
            <a:ext cx="23705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mechanisms causing biases to guide development priorities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6250" y="3950791"/>
            <a:ext cx="8191500" cy="529530"/>
          </a:xfrm>
          <a:prstGeom prst="roundRect">
            <a:avLst>
              <a:gd name="adj" fmla="val 1079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500063" y="3950791"/>
            <a:ext cx="0" cy="529530"/>
          </a:xfrm>
          <a:prstGeom prst="line">
            <a:avLst/>
          </a:prstGeom>
          <a:noFill/>
          <a:ln w="47625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95325" y="4122241"/>
            <a:ext cx="79569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Importance:</a:t>
            </a:r>
            <a:r>
              <a:rPr lang="en-US" sz="1050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Understanding model biases is essential for improving projections used in policy decisions.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28600" y="4743450"/>
            <a:ext cx="2248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Climate Model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 Ice Area: Annual Mean Trends</a:t>
            </a:r>
            <a:endParaRPr lang="en-US" sz="2250" dirty="0"/>
          </a:p>
        </p:txBody>
      </p:sp>
      <p:pic>
        <p:nvPicPr>
          <p:cNvPr id="4" name="Image 0" descr="/home/claude/TaiESM_Annual_Mean_S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83047"/>
            <a:ext cx="4343392" cy="3333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67300" y="2330797"/>
            <a:ext cx="3848100" cy="1339155"/>
          </a:xfrm>
          <a:prstGeom prst="roundRect">
            <a:avLst>
              <a:gd name="adj" fmla="val 56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067300" y="2354610"/>
            <a:ext cx="3848100" cy="0"/>
          </a:xfrm>
          <a:prstGeom prst="line">
            <a:avLst/>
          </a:prstGeom>
          <a:noFill/>
          <a:ln w="47625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81600" y="2492722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81600" y="2797522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stable ~16.5×10¹² m² with realistic variability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81600" y="3007072"/>
            <a:ext cx="36918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Critical bias - model stable while observations decline from ~13 to ~11.5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81600" y="3369022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Ocean warm bias prevents realistic sea ice decline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743450"/>
            <a:ext cx="19204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1979-2005 | Observations vs TaiESM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4924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TaiESM</a:t>
            </a: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Sea Ice Concentration: Northern Hemisphere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067300" y="2416522"/>
            <a:ext cx="3848100" cy="1167705"/>
          </a:xfrm>
          <a:prstGeom prst="roundRect">
            <a:avLst>
              <a:gd name="adj" fmla="val 6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067300" y="2440335"/>
            <a:ext cx="3848100" cy="0"/>
          </a:xfrm>
          <a:prstGeom prst="line">
            <a:avLst/>
          </a:prstGeom>
          <a:noFill/>
          <a:ln w="47625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81600" y="2578447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Analysis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81600" y="2883247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Arctic: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Near-100% concentration captures perennial ice pack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81600" y="3083272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Zones: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Realistic gradients in Bering, Labrador Seas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81600" y="3283297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</a:t>
            </a:r>
            <a:r>
              <a:rPr lang="en-US" sz="900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Excellent spatial skill validates Arctic simulation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871919"/>
            <a:ext cx="1186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SIC (1979-2005)</a:t>
            </a:r>
            <a:endParaRPr lang="en-US" sz="900" dirty="0"/>
          </a:p>
        </p:txBody>
      </p:sp>
      <p:pic>
        <p:nvPicPr>
          <p:cNvPr id="15" name="Picture 14" descr="A map of the north pole&#10;&#10;AI-generated content may be incorrect.">
            <a:extLst>
              <a:ext uri="{FF2B5EF4-FFF2-40B4-BE49-F238E27FC236}">
                <a16:creationId xmlns:a16="http://schemas.microsoft.com/office/drawing/2014/main" id="{80308761-BBF3-6CB4-7B3D-1E1B3E0E4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0" y="933450"/>
            <a:ext cx="3556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3398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250" b="1" dirty="0" err="1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TaiESM</a:t>
            </a: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Sea Ice Concentration: Southern Hemisphere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067300" y="2416522"/>
            <a:ext cx="3848100" cy="1167705"/>
          </a:xfrm>
          <a:prstGeom prst="roundRect">
            <a:avLst>
              <a:gd name="adj" fmla="val 6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067300" y="2440335"/>
            <a:ext cx="3848100" cy="0"/>
          </a:xfrm>
          <a:prstGeom prst="line">
            <a:avLst/>
          </a:prstGeom>
          <a:noFill/>
          <a:ln w="47625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81600" y="2578447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85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Circumpolar Ice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81600" y="2883247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Ring: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90-100% concentration near Antarctica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81600" y="3083272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Edge: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Sharp gradient at ~60°S marks ACC boundary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81600" y="3283297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900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Warm bias inhibits realistic ice expansion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743450"/>
            <a:ext cx="1186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SIC (1979-2005)</a:t>
            </a:r>
            <a:endParaRPr lang="en-US" sz="900" dirty="0"/>
          </a:p>
        </p:txBody>
      </p:sp>
      <p:pic>
        <p:nvPicPr>
          <p:cNvPr id="13" name="Picture 12" descr="A map of the ocean&#10;&#10;AI-generated content may be incorrect.">
            <a:extLst>
              <a:ext uri="{FF2B5EF4-FFF2-40B4-BE49-F238E27FC236}">
                <a16:creationId xmlns:a16="http://schemas.microsoft.com/office/drawing/2014/main" id="{8DD5CB02-6C82-9CF5-2931-483F25027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68" y="698516"/>
            <a:ext cx="3972319" cy="3746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6616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Ocean Heat Content: Volume-Averaged Temperature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067300" y="2416522"/>
            <a:ext cx="3848100" cy="1167705"/>
          </a:xfrm>
          <a:prstGeom prst="roundRect">
            <a:avLst>
              <a:gd name="adj" fmla="val 6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067300" y="2440335"/>
            <a:ext cx="3848100" cy="0"/>
          </a:xfrm>
          <a:prstGeom prst="line">
            <a:avLst/>
          </a:prstGeom>
          <a:noFill/>
          <a:ln w="47625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81600" y="2578447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 Warming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81600" y="2883247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 0.0079°C/decade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3.880°C to 4.040°C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81600" y="3083272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curve reflects ocean thermal inertia damping variability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81600" y="3283297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</a:t>
            </a:r>
            <a:r>
              <a:rPr lang="en-US" sz="900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VAT tracks 90% of climate warming stored in oceans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743450"/>
            <a:ext cx="15684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Mean VAT (1850-1999)</a:t>
            </a:r>
            <a:endParaRPr lang="en-US" sz="900" dirty="0"/>
          </a:p>
        </p:txBody>
      </p:sp>
      <p:pic>
        <p:nvPicPr>
          <p:cNvPr id="14" name="Picture 13" descr="A graph with a red line&#10;&#10;AI-generated content may be incorrect.">
            <a:extLst>
              <a:ext uri="{FF2B5EF4-FFF2-40B4-BE49-F238E27FC236}">
                <a16:creationId xmlns:a16="http://schemas.microsoft.com/office/drawing/2014/main" id="{8B69C147-5665-CEE8-F123-6B6F4525DC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09" y="1037496"/>
            <a:ext cx="4382042" cy="36004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780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 Surface Temperature: Time Series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067300" y="2416522"/>
            <a:ext cx="3848100" cy="1167705"/>
          </a:xfrm>
          <a:prstGeom prst="roundRect">
            <a:avLst>
              <a:gd name="adj" fmla="val 6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067300" y="2440335"/>
            <a:ext cx="3848100" cy="0"/>
          </a:xfrm>
          <a:prstGeom prst="line">
            <a:avLst/>
          </a:prstGeom>
          <a:noFill/>
          <a:ln w="47625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81600" y="2578447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85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High-Frequency Variability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81600" y="2883247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 0.018°C/decade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- 18.10°C to 18.75°C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81600" y="3083272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peaks reflect El Niño events releasing ocean heat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81600" y="3283297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r>
              <a:rPr lang="en-US" sz="900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SST shows 2x faster warming than VAT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743450"/>
            <a:ext cx="1585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Mean SST (1850-1999)</a:t>
            </a:r>
            <a:endParaRPr lang="en-US" sz="900" dirty="0"/>
          </a:p>
        </p:txBody>
      </p:sp>
      <p:pic>
        <p:nvPicPr>
          <p:cNvPr id="12" name="Picture 11" descr="A graph with red lines&#10;&#10;AI-generated content may be incorrect.">
            <a:extLst>
              <a:ext uri="{FF2B5EF4-FFF2-40B4-BE49-F238E27FC236}">
                <a16:creationId xmlns:a16="http://schemas.microsoft.com/office/drawing/2014/main" id="{5FAD8D28-C52E-7419-6835-2729B9D158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011118"/>
            <a:ext cx="4449026" cy="36532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61401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Air Temperature: Model vs Observations</a:t>
            </a:r>
            <a:endParaRPr lang="en-US" sz="2250" dirty="0"/>
          </a:p>
        </p:txBody>
      </p:sp>
      <p:pic>
        <p:nvPicPr>
          <p:cNvPr id="4" name="Image 0" descr="/home/claude/TaiESMTIMCOMxObs_TimeSeries_MeanS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54" y="1319406"/>
            <a:ext cx="4705350" cy="29752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67300" y="2416522"/>
            <a:ext cx="3848100" cy="1167705"/>
          </a:xfrm>
          <a:prstGeom prst="roundRect">
            <a:avLst>
              <a:gd name="adj" fmla="val 65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067300" y="2440335"/>
            <a:ext cx="3848100" cy="0"/>
          </a:xfrm>
          <a:prstGeom prst="line">
            <a:avLst/>
          </a:prstGeom>
          <a:noFill/>
          <a:ln w="47625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81600" y="2578447"/>
            <a:ext cx="369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Assessment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181600" y="2883247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Pre-1950: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~0.3°C warm bias indicates aerosol underestimation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81600" y="3083272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Post-1950: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Excellent agreement validates climate sensitivity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81600" y="3283297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</a:t>
            </a:r>
            <a:r>
              <a:rPr lang="en-US" sz="900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Post-1950 skill supports future projections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743450"/>
            <a:ext cx="26570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Anomaly (1860-1980) | Black: obs; Red: model</a:t>
            </a:r>
            <a:endParaRPr lang="en-US" sz="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DDF69B-A69A-3A3B-C435-CC1AEF589E2B}"/>
              </a:ext>
            </a:extLst>
          </p:cNvPr>
          <p:cNvSpPr/>
          <p:nvPr/>
        </p:nvSpPr>
        <p:spPr>
          <a:xfrm>
            <a:off x="3508131" y="1872761"/>
            <a:ext cx="1143000" cy="118926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780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SST Spatial Patterns &amp; Critical Biases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941466" y="3727573"/>
            <a:ext cx="4012555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941466" y="3751385"/>
            <a:ext cx="4012555" cy="0"/>
          </a:xfrm>
          <a:prstGeom prst="line">
            <a:avLst/>
          </a:prstGeom>
          <a:noFill/>
          <a:ln w="47625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55766" y="3889498"/>
            <a:ext cx="385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C85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Major Biases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55766" y="4175248"/>
            <a:ext cx="385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Southern Ocean +3-5°C: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Insufficient clouds, weak ACC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55766" y="4365748"/>
            <a:ext cx="385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North Atlantic -2-4°C: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Weak AMOC reduces heat transport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55766" y="4556248"/>
            <a:ext cx="385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Coastal Upwelling +1-3°C: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Coarse resolution issue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55766" y="4746748"/>
            <a:ext cx="385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Equatorial Cold Tongue: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Excessive upwelling affects ENSO</a:t>
            </a:r>
            <a:endParaRPr lang="en-US" sz="900" dirty="0"/>
          </a:p>
        </p:txBody>
      </p:sp>
      <p:pic>
        <p:nvPicPr>
          <p:cNvPr id="13" name="Picture 12" descr="A screenshot of a map&#10;&#10;AI-generated content may be incorrect.">
            <a:extLst>
              <a:ext uri="{FF2B5EF4-FFF2-40B4-BE49-F238E27FC236}">
                <a16:creationId xmlns:a16="http://schemas.microsoft.com/office/drawing/2014/main" id="{833C6804-3A31-81FA-7B33-BDF3DC9B2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9" t="303" r="27752" b="66982"/>
          <a:stretch>
            <a:fillRect/>
          </a:stretch>
        </p:blipFill>
        <p:spPr>
          <a:xfrm>
            <a:off x="45398" y="1020781"/>
            <a:ext cx="3156629" cy="20154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 descr="A screenshot of a map&#10;&#10;AI-generated content may be incorrect.">
            <a:extLst>
              <a:ext uri="{FF2B5EF4-FFF2-40B4-BE49-F238E27FC236}">
                <a16:creationId xmlns:a16="http://schemas.microsoft.com/office/drawing/2014/main" id="{0224760D-DF69-DFE7-691C-6F20611D4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9" t="66007" r="27213" b="400"/>
          <a:stretch/>
        </p:blipFill>
        <p:spPr>
          <a:xfrm>
            <a:off x="3833636" y="717593"/>
            <a:ext cx="4360796" cy="2952830"/>
          </a:xfrm>
          <a:prstGeom prst="rect">
            <a:avLst/>
          </a:prstGeom>
        </p:spPr>
      </p:pic>
      <p:pic>
        <p:nvPicPr>
          <p:cNvPr id="15" name="Picture 14" descr="A screenshot of a map&#10;&#10;AI-generated content may be incorrect.">
            <a:extLst>
              <a:ext uri="{FF2B5EF4-FFF2-40B4-BE49-F238E27FC236}">
                <a16:creationId xmlns:a16="http://schemas.microsoft.com/office/drawing/2014/main" id="{F93EEE09-528A-52B9-FD39-0D829F3CB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00" t="32245" r="27600" b="34733"/>
          <a:stretch/>
        </p:blipFill>
        <p:spPr>
          <a:xfrm>
            <a:off x="45397" y="3110387"/>
            <a:ext cx="3156629" cy="20154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57612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Air Temperature: Spatial Distribution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489607" y="3788158"/>
            <a:ext cx="4012555" cy="1129605"/>
          </a:xfrm>
          <a:prstGeom prst="roundRect">
            <a:avLst>
              <a:gd name="adj" fmla="val 67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489607" y="3811971"/>
            <a:ext cx="4012555" cy="0"/>
          </a:xfrm>
          <a:prstGeom prst="line">
            <a:avLst/>
          </a:prstGeom>
          <a:noFill/>
          <a:ln w="47625">
            <a:solidFill>
              <a:srgbClr val="0A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603907" y="3950083"/>
            <a:ext cx="385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Patterns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03907" y="4235833"/>
            <a:ext cx="385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Pattern: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tropical warmth, polar cooling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03907" y="4426333"/>
            <a:ext cx="385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Ocean: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 band shows +3-5°C bias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03907" y="4616833"/>
            <a:ext cx="385963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r>
              <a:rPr lang="en-US" sz="900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SAT biases mirror SST, confirming coupling fidelity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743450"/>
            <a:ext cx="2345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Model | Middle: Obs | Bottom: Difference</a:t>
            </a:r>
            <a:endParaRPr lang="en-US" sz="900" dirty="0"/>
          </a:p>
        </p:txBody>
      </p:sp>
      <p:pic>
        <p:nvPicPr>
          <p:cNvPr id="12" name="Picture 11" descr="A screenshot of a map&#10;&#10;AI-generated content may be incorrect.">
            <a:extLst>
              <a:ext uri="{FF2B5EF4-FFF2-40B4-BE49-F238E27FC236}">
                <a16:creationId xmlns:a16="http://schemas.microsoft.com/office/drawing/2014/main" id="{60A935B3-FC66-E778-10DB-F5761E8A3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0" r="22951" b="67213"/>
          <a:stretch/>
        </p:blipFill>
        <p:spPr>
          <a:xfrm>
            <a:off x="211608" y="992339"/>
            <a:ext cx="3709753" cy="2034516"/>
          </a:xfrm>
          <a:prstGeom prst="rect">
            <a:avLst/>
          </a:prstGeom>
        </p:spPr>
      </p:pic>
      <p:pic>
        <p:nvPicPr>
          <p:cNvPr id="13" name="Picture 12" descr="A screenshot of a map&#10;&#10;AI-generated content may be incorrect.">
            <a:extLst>
              <a:ext uri="{FF2B5EF4-FFF2-40B4-BE49-F238E27FC236}">
                <a16:creationId xmlns:a16="http://schemas.microsoft.com/office/drawing/2014/main" id="{423C1338-6971-CC63-C794-A3DB06EC0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0" t="33329" r="22951" b="33607"/>
          <a:stretch/>
        </p:blipFill>
        <p:spPr>
          <a:xfrm>
            <a:off x="211608" y="3096948"/>
            <a:ext cx="3709753" cy="2020175"/>
          </a:xfrm>
          <a:prstGeom prst="rect">
            <a:avLst/>
          </a:prstGeom>
        </p:spPr>
      </p:pic>
      <p:pic>
        <p:nvPicPr>
          <p:cNvPr id="14" name="Picture 13" descr="A screenshot of a map&#10;&#10;AI-generated content may be incorrect.">
            <a:extLst>
              <a:ext uri="{FF2B5EF4-FFF2-40B4-BE49-F238E27FC236}">
                <a16:creationId xmlns:a16="http://schemas.microsoft.com/office/drawing/2014/main" id="{F4412B87-CA43-6700-608A-3D463AC416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0" t="65695" r="22951" b="1"/>
          <a:stretch/>
        </p:blipFill>
        <p:spPr>
          <a:xfrm>
            <a:off x="4489607" y="888696"/>
            <a:ext cx="4347363" cy="26489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429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51492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Precipitation: The Double ITCZ Problem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268088" y="3861495"/>
            <a:ext cx="4012555" cy="1129605"/>
          </a:xfrm>
          <a:prstGeom prst="roundRect">
            <a:avLst>
              <a:gd name="adj" fmla="val 67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268088" y="3885308"/>
            <a:ext cx="4012555" cy="0"/>
          </a:xfrm>
          <a:prstGeom prst="line">
            <a:avLst/>
          </a:prstGeom>
          <a:noFill/>
          <a:ln w="47625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382388" y="4023420"/>
            <a:ext cx="385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C850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Tropical Bias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2388" y="4309170"/>
            <a:ext cx="385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ITCZ: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Spurious SH rain belt (~5-10°S) with &gt;4 mm/day excess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82388" y="4499670"/>
            <a:ext cx="385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</a:t>
            </a:r>
            <a:r>
              <a:rPr lang="en-US" sz="90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Equatorial cold tongue creates false SST gradient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82388" y="4690170"/>
            <a:ext cx="385963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r>
              <a:rPr lang="en-US" sz="900" dirty="0">
                <a:solidFill>
                  <a:srgbClr val="0A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Common bias in most CMIP models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991100"/>
            <a:ext cx="25029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TaiESM | (b) GPCP | (c) Bias | Units: mm/day</a:t>
            </a:r>
            <a:endParaRPr lang="en-US" sz="900" dirty="0"/>
          </a:p>
        </p:txBody>
      </p:sp>
      <p:pic>
        <p:nvPicPr>
          <p:cNvPr id="12" name="Picture 1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3D6DF29-92F8-40C7-BF51-CBD3AC990A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6" t="66510" r="26100"/>
          <a:stretch/>
        </p:blipFill>
        <p:spPr>
          <a:xfrm>
            <a:off x="4229467" y="933622"/>
            <a:ext cx="4012555" cy="2821328"/>
          </a:xfrm>
          <a:prstGeom prst="rect">
            <a:avLst/>
          </a:prstGeom>
        </p:spPr>
      </p:pic>
      <p:pic>
        <p:nvPicPr>
          <p:cNvPr id="13" name="Picture 12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2FD11171-2D68-AEA2-75A9-E9DF2588D3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6" r="26100" b="69208"/>
          <a:stretch/>
        </p:blipFill>
        <p:spPr>
          <a:xfrm>
            <a:off x="228600" y="933622"/>
            <a:ext cx="3243192" cy="2017395"/>
          </a:xfrm>
          <a:prstGeom prst="rect">
            <a:avLst/>
          </a:prstGeom>
        </p:spPr>
      </p:pic>
      <p:pic>
        <p:nvPicPr>
          <p:cNvPr id="14" name="Picture 1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371A9ACF-34F5-D177-9914-287D9A640D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6" t="34897" r="26100" b="36364"/>
          <a:stretch/>
        </p:blipFill>
        <p:spPr>
          <a:xfrm>
            <a:off x="228600" y="3061930"/>
            <a:ext cx="3229404" cy="18148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810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9100" y="266700"/>
            <a:ext cx="46731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Findings: Model Strengths</a:t>
            </a:r>
            <a:endParaRPr lang="en-US" sz="2700" dirty="0"/>
          </a:p>
        </p:txBody>
      </p:sp>
      <p:pic>
        <p:nvPicPr>
          <p:cNvPr id="4" name="Image 0" descr="/tmp/rasterized-gradient-415009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123947"/>
            <a:ext cx="8191500" cy="895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850" y="1352547"/>
            <a:ext cx="61795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TaiESM-TIMCOM Does Well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04850" y="1690685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performance in fundamental climate system representation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6250" y="2305050"/>
            <a:ext cx="4019550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76250" y="2328863"/>
            <a:ext cx="401955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7700" y="2524125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Patterns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7700" y="2867025"/>
            <a:ext cx="3750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large-scale SST distribution and tropical warm pool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48200" y="2305050"/>
            <a:ext cx="4019550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48200" y="2328863"/>
            <a:ext cx="4019550" cy="0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19650" y="2524125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Post-1950 Trends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19650" y="2867025"/>
            <a:ext cx="3750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agreement validates climate sensitivity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6250" y="3381375"/>
            <a:ext cx="4019550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6250" y="3405187"/>
            <a:ext cx="4019550" cy="0"/>
          </a:xfrm>
          <a:prstGeom prst="line">
            <a:avLst/>
          </a:prstGeom>
          <a:noFill/>
          <a:ln w="47625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7700" y="3600450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Arctic Performance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7700" y="3943350"/>
            <a:ext cx="3750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sea ice extent and variability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48200" y="3381375"/>
            <a:ext cx="4019550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648200" y="3405187"/>
            <a:ext cx="4019550" cy="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19650" y="3600450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Ocean Heat Uptake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819650" y="3943350"/>
            <a:ext cx="3750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trend correctly simulates heat storage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28600" y="4743450"/>
            <a:ext cx="21579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Future Climate Projections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810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8286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Findings: Systematic Biases</a:t>
            </a:r>
            <a:endParaRPr lang="en-US" sz="2700" dirty="0"/>
          </a:p>
        </p:txBody>
      </p:sp>
      <p:pic>
        <p:nvPicPr>
          <p:cNvPr id="4" name="Image 0" descr="/tmp/rasterized-gradient-b8a72f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09650"/>
            <a:ext cx="8191500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1200150"/>
            <a:ext cx="39930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Development Areas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76250" y="2014538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7580" y="20955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1075" y="1905000"/>
            <a:ext cx="7686675" cy="6477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000125" y="1905000"/>
            <a:ext cx="0" cy="64770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33475" y="2019300"/>
            <a:ext cx="75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Antarctic Sea Ice Trend Wrong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33475" y="2247900"/>
            <a:ext cx="756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stable while observations decline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6250" y="2738438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7580" y="28194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81075" y="2628900"/>
            <a:ext cx="7686675" cy="6477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1000125" y="2628900"/>
            <a:ext cx="0" cy="64770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33475" y="2743200"/>
            <a:ext cx="75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Southern Ocean SST +3 to +5°C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33475" y="2971800"/>
            <a:ext cx="756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bias from insufficient clouds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6250" y="3462338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7580" y="35433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81075" y="3352800"/>
            <a:ext cx="7686675" cy="6477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000125" y="3352800"/>
            <a:ext cx="0" cy="64770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33475" y="3467100"/>
            <a:ext cx="75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Atlantic Cold Bias -2 to -4°C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33475" y="3695700"/>
            <a:ext cx="756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AMOC reduces heat transport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6250" y="4186238"/>
            <a:ext cx="428625" cy="428625"/>
          </a:xfrm>
          <a:prstGeom prst="roundRect">
            <a:avLst>
              <a:gd name="adj" fmla="val 17778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37580" y="42672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81075" y="4076700"/>
            <a:ext cx="7686675" cy="6477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1000125" y="4076700"/>
            <a:ext cx="0" cy="647700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133475" y="4191000"/>
            <a:ext cx="75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ITCZ Problem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133475" y="4419600"/>
            <a:ext cx="7568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A5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Spurious tropical rain belt affects circulation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66700"/>
            <a:ext cx="0" cy="381000"/>
          </a:xfrm>
          <a:prstGeom prst="line">
            <a:avLst/>
          </a:prstGeom>
          <a:noFill/>
          <a:ln w="76200">
            <a:solidFill>
              <a:srgbClr val="C8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9100" y="266700"/>
            <a:ext cx="49160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Future Directions</a:t>
            </a:r>
            <a:endParaRPr lang="en-US" sz="2700" dirty="0"/>
          </a:p>
        </p:txBody>
      </p:sp>
      <p:pic>
        <p:nvPicPr>
          <p:cNvPr id="4" name="Image 0" descr="/tmp/rasterized-gradient-1a9b8b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56432"/>
            <a:ext cx="3943350" cy="1478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2950" y="1665982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Assessment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2950" y="2046982"/>
            <a:ext cx="3536442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TaiESM-TIMCOM demonstrates promising capability for climate simulation with realistic post-1950 warming trends and fundamental spatial patterns.</a:t>
            </a:r>
            <a:endParaRPr lang="en-US" sz="1050" dirty="0"/>
          </a:p>
        </p:txBody>
      </p:sp>
      <p:pic>
        <p:nvPicPr>
          <p:cNvPr id="7" name="Image 1" descr="/tmp/rasterized-gradient-71db7a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009650"/>
            <a:ext cx="3943350" cy="23717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91100" y="1219200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Priorities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991100" y="1600200"/>
            <a:ext cx="3467100" cy="15716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62550" y="1647825"/>
            <a:ext cx="336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Ocean cloud-radiation coupling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162550" y="1981200"/>
            <a:ext cx="336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AMOC strength tuning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162550" y="2314575"/>
            <a:ext cx="336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Aerosol-cloud interactions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62550" y="2647950"/>
            <a:ext cx="336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Tropical convection schemes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162550" y="2981325"/>
            <a:ext cx="336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resolution for coasts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6250" y="3571875"/>
            <a:ext cx="8191500" cy="1207591"/>
          </a:xfrm>
          <a:prstGeom prst="roundRect">
            <a:avLst>
              <a:gd name="adj" fmla="val 6310"/>
            </a:avLst>
          </a:prstGeom>
          <a:solidFill>
            <a:srgbClr val="FFFFFF"/>
          </a:solidFill>
          <a:ln w="28575">
            <a:solidFill>
              <a:srgbClr val="0A5F8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33425" y="3771900"/>
            <a:ext cx="7830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A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Significance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33425" y="4114800"/>
            <a:ext cx="783069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A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Post-1950 warming credibility provides confidence for future projections. Bias identification guides targeted improvements rather than wholesale redesign.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882</Words>
  <Application>Microsoft Macintosh PowerPoint</Application>
  <PresentationFormat>On-screen Show (16:9)</PresentationFormat>
  <Paragraphs>144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TaiESM-TIMCOM Model Diagnostics</dc:title>
  <dc:subject>Climate Model Evaluation and Analysis</dc:subject>
  <dc:creator>TaiESM Climate Research Team</dc:creator>
  <cp:lastModifiedBy>Lalu Mantigi Wana P</cp:lastModifiedBy>
  <cp:revision>2</cp:revision>
  <dcterms:created xsi:type="dcterms:W3CDTF">2025-12-16T22:55:12Z</dcterms:created>
  <dcterms:modified xsi:type="dcterms:W3CDTF">2025-12-17T01:37:40Z</dcterms:modified>
</cp:coreProperties>
</file>